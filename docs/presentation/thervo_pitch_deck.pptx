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YUVA YODHA TECH CHALLENGE  •  SMART BUILDINGS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0F4F8"/>
                </a:solidFill>
              </a:defRPr>
            </a:pPr>
            <a:r>
              <a:t>Thervo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E5FF"/>
                </a:solidFill>
              </a:defRPr>
            </a:pPr>
            <a:r>
              <a:t>Predictive Cooling for a More Efficient Digital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99AD"/>
                </a:solidFill>
              </a:defRPr>
            </a:pPr>
            <a:r>
              <a:t>AI-driven, sensor-free thermal intelligence for data centers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4114800" cy="64008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[ Predictive Thermal Risk Engine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4937760"/>
            <a:ext cx="4114800" cy="64008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498348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[ Zero Hardware Sensors Required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9AD"/>
                </a:solidFill>
                <a:latin typeface="Arial"/>
              </a:defRPr>
            </a:pPr>
            <a:r>
              <a:t>Thervo — Yuva Yodha Tech Challenge (Smart Buildings)                          Slide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PROBLEM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  <a:latin typeface="Arial"/>
              </a:defRPr>
            </a:pPr>
            <a:r>
              <a:t>Cooling is becoming a hidden cost of our digital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9AD"/>
                </a:solidFill>
                <a:latin typeface="Arial"/>
              </a:defRPr>
            </a:pPr>
            <a:r>
              <a:t>Traditional data center cooling cannot keep up with high-density AI workloads.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486400" cy="411480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0F4F8"/>
                </a:solidFill>
              </a:defRPr>
            </a:pPr>
            <a:r>
              <a:t>• Expanding Energy Demand: AI and HPC create unprecedented power density per server rack.</a:t>
            </a:r>
          </a:p>
          <a:p>
            <a:pPr>
              <a:spcAft>
                <a:spcPts val="1000"/>
              </a:spcAft>
              <a:defRPr sz="1300">
                <a:solidFill>
                  <a:srgbClr val="F0F4F8"/>
                </a:solidFill>
              </a:defRPr>
            </a:pPr>
            <a:r>
              <a:t>• Major Energy Share: Cooling represents up to 40% of overall data center electricity usage.</a:t>
            </a:r>
          </a:p>
          <a:p>
            <a:pPr>
              <a:spcAft>
                <a:spcPts val="1000"/>
              </a:spcAft>
              <a:defRPr sz="1300">
                <a:solidFill>
                  <a:srgbClr val="F0F4F8"/>
                </a:solidFill>
              </a:defRPr>
            </a:pPr>
            <a:r>
              <a:t>• Reactive Model: Conventional cooling triggers only AFTER heat has already accumulated.</a:t>
            </a:r>
          </a:p>
          <a:p>
            <a:pPr>
              <a:spcAft>
                <a:spcPts val="1000"/>
              </a:spcAft>
              <a:defRPr sz="1300">
                <a:solidFill>
                  <a:srgbClr val="F0F4F8"/>
                </a:solidFill>
              </a:defRPr>
            </a:pPr>
            <a:r>
              <a:t>• Blanket Inefficiency: Entire aisles flooded with chilled air even when single racks run hot.</a:t>
            </a:r>
          </a:p>
          <a:p>
            <a:pPr>
              <a:spcAft>
                <a:spcPts val="1000"/>
              </a:spcAft>
              <a:defRPr sz="1300">
                <a:solidFill>
                  <a:srgbClr val="F0F4F8"/>
                </a:solidFill>
              </a:defRPr>
            </a:pPr>
            <a:r>
              <a:t>• Delayed Sensor Feedback: Physical probes register heat after thermal stress has developed.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4937760" cy="411480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3D00"/>
                </a:solidFill>
              </a:defRPr>
            </a:pPr>
            <a:r>
              <a:t>TODAY'S REACTIVE COOLING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651760"/>
            <a:ext cx="4389120" cy="59436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697479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0F4F8"/>
                </a:solidFill>
              </a:defRPr>
            </a:pPr>
            <a:r>
              <a:t>1. Workload Spikes — CPU/GPU load rises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429000"/>
            <a:ext cx="4389120" cy="59436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47472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0F4F8"/>
                </a:solidFill>
              </a:defRPr>
            </a:pPr>
            <a:r>
              <a:t>2. Heat Develops — Physical heat accumulates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206240"/>
            <a:ext cx="4389120" cy="59436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251959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0F4F8"/>
                </a:solidFill>
              </a:defRPr>
            </a:pPr>
            <a:r>
              <a:t>3. Sensor Detects — Ambient probe triggers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4983479"/>
            <a:ext cx="4389120" cy="59436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5029199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E5FF"/>
                </a:solidFill>
              </a:defRPr>
            </a:pPr>
            <a:r>
              <a:t>4. Cooling Reacts — Floods entire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9AD"/>
                </a:solidFill>
                <a:latin typeface="Arial"/>
              </a:defRPr>
            </a:pPr>
            <a:r>
              <a:t>Thervo — Yuva Yodha Tech Challenge (Smart Buildings)                          Slide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STRATEGIC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  <a:latin typeface="Arial"/>
              </a:defRPr>
            </a:pPr>
            <a:r>
              <a:t>We shouldn't have to cool everything to protect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9AD"/>
                </a:solidFill>
                <a:latin typeface="Arial"/>
              </a:defRPr>
            </a:pPr>
            <a:r>
              <a:t>Precision and foresight are critical for modern data infrastructure sustainability.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486400" cy="411480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0F4F8"/>
                </a:solidFill>
              </a:defRPr>
            </a:pPr>
            <a:r>
              <a:t>• Relentless Compute Growth: Higher density makes blanket cooling cost-prohibitive.</a:t>
            </a:r>
          </a:p>
          <a:p>
            <a:pPr>
              <a:spcAft>
                <a:spcPts val="1000"/>
              </a:spcAft>
              <a:defRPr sz="1300">
                <a:solidFill>
                  <a:srgbClr val="F0F4F8"/>
                </a:solidFill>
              </a:defRPr>
            </a:pPr>
            <a:r>
              <a:t>• Operational Inflation: Blanket cooling continuously inflates facility OpEx.</a:t>
            </a:r>
          </a:p>
          <a:p>
            <a:pPr>
              <a:spcAft>
                <a:spcPts val="1000"/>
              </a:spcAft>
              <a:defRPr sz="1300">
                <a:solidFill>
                  <a:srgbClr val="F0F4F8"/>
                </a:solidFill>
              </a:defRPr>
            </a:pPr>
            <a:r>
              <a:t>• Thermal Stress Risks: Delayed cooling exposes hardware to throttling &amp; degradation.</a:t>
            </a:r>
          </a:p>
          <a:p>
            <a:pPr>
              <a:spcAft>
                <a:spcPts val="1000"/>
              </a:spcAft>
              <a:defRPr sz="1300">
                <a:solidFill>
                  <a:srgbClr val="F0F4F8"/>
                </a:solidFill>
              </a:defRPr>
            </a:pPr>
            <a:r>
              <a:t>• Predictive Shift Needed: Operators require rack-level foresight before heat spikes.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80560"/>
            <a:ext cx="5120640" cy="128016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72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"Thervo asks a simple question: What if we could predict where cooling will be needed before the heat arrives?"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920240"/>
            <a:ext cx="4937760" cy="411480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676"/>
                </a:solidFill>
              </a:defRPr>
            </a:pPr>
            <a:r>
              <a:t>TARGETED vs BLANKET COOLING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743200"/>
            <a:ext cx="4389120" cy="137160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83464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3D00"/>
                </a:solidFill>
              </a:defRPr>
            </a:pPr>
            <a:r>
              <a:t>TRADITIONAL BLANKET COOLING</a:t>
            </a:r>
          </a:p>
          <a:p>
            <a:pPr>
              <a:defRPr sz="1100">
                <a:solidFill>
                  <a:srgbClr val="8A99AD"/>
                </a:solidFill>
              </a:defRPr>
            </a:pPr>
            <a:r>
              <a:t>Entire server hall chilled uniformly regardless of individual rack utilization.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297680"/>
            <a:ext cx="4389120" cy="146304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38912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676"/>
                </a:solidFill>
              </a:defRPr>
            </a:pPr>
            <a:r>
              <a:t>THERVO TARGETED MICRO-ZONE</a:t>
            </a:r>
          </a:p>
          <a:p>
            <a:pPr>
              <a:defRPr sz="1100">
                <a:solidFill>
                  <a:srgbClr val="8A99AD"/>
                </a:solidFill>
              </a:defRPr>
            </a:pPr>
            <a:r>
              <a:t>Cooling airflow directed specifically to identified high-risk racks pre-emptively.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9AD"/>
                </a:solidFill>
                <a:latin typeface="Arial"/>
              </a:defRPr>
            </a:pPr>
            <a:r>
              <a:t>Thervo — Yuva Yodha Tech Challenge (Smart Buildings)                          Slide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CORE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  <a:latin typeface="Arial"/>
              </a:defRPr>
            </a:pPr>
            <a:r>
              <a:t>Meet Thervo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9AD"/>
                </a:solidFill>
                <a:latin typeface="Arial"/>
              </a:defRPr>
            </a:pPr>
            <a:r>
              <a:t>AI-driven predictive cooling operating in 3 simple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292608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STEP 01</a:t>
            </a:r>
          </a:p>
          <a:p>
            <a:pPr>
              <a:spcBef>
                <a:spcPts val="600"/>
              </a:spcBef>
              <a:defRPr sz="1800" b="1">
                <a:solidFill>
                  <a:srgbClr val="F0F4F8"/>
                </a:solidFill>
              </a:defRPr>
            </a:pPr>
            <a:r>
              <a:t>Understand Workload</a:t>
            </a:r>
          </a:p>
          <a:p>
            <a:pPr>
              <a:spcBef>
                <a:spcPts val="1000"/>
              </a:spcBef>
              <a:defRPr sz="1200">
                <a:solidFill>
                  <a:srgbClr val="8A99AD"/>
                </a:solidFill>
              </a:defRPr>
            </a:pPr>
            <a:r>
              <a:t>Ingests server performance telemetry directly from host systems: CPU, GPU, Memory, Disk I/O, Network I/O.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292608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STEP 02</a:t>
            </a:r>
          </a:p>
          <a:p>
            <a:pPr>
              <a:spcBef>
                <a:spcPts val="600"/>
              </a:spcBef>
              <a:defRPr sz="1800" b="1">
                <a:solidFill>
                  <a:srgbClr val="F0F4F8"/>
                </a:solidFill>
              </a:defRPr>
            </a:pPr>
            <a:r>
              <a:t>Predict Thermal Risk</a:t>
            </a:r>
          </a:p>
          <a:p>
            <a:pPr>
              <a:spcBef>
                <a:spcPts val="1000"/>
              </a:spcBef>
              <a:defRPr sz="1200">
                <a:solidFill>
                  <a:srgbClr val="8A99AD"/>
                </a:solidFill>
              </a:defRPr>
            </a:pPr>
            <a:r>
              <a:t>Machine learning models convert real-time workload behavior into pre-emptive rack-level thermal risk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292608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100"/>
                </a:solidFill>
              </a:defRPr>
            </a:pPr>
            <a:r>
              <a:t>STEP 03</a:t>
            </a:r>
          </a:p>
          <a:p>
            <a:pPr>
              <a:spcBef>
                <a:spcPts val="600"/>
              </a:spcBef>
              <a:defRPr sz="1800" b="1">
                <a:solidFill>
                  <a:srgbClr val="F0F4F8"/>
                </a:solidFill>
              </a:defRPr>
            </a:pPr>
            <a:r>
              <a:t>Act Before Problem</a:t>
            </a:r>
          </a:p>
          <a:p>
            <a:pPr>
              <a:spcBef>
                <a:spcPts val="1000"/>
              </a:spcBef>
              <a:defRPr sz="1200">
                <a:solidFill>
                  <a:srgbClr val="8A99AD"/>
                </a:solidFill>
              </a:defRPr>
            </a:pPr>
            <a:r>
              <a:t>Cooling airflow is targeted directly toward specific racks where thermal risk is actively developing.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82296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E676"/>
                </a:solidFill>
              </a:defRPr>
            </a:pPr>
            <a:r>
              <a:t>KEY DIFFERENTIATOR: NO DEDICATED TEMPERATURE SENSORS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9AD"/>
                </a:solidFill>
                <a:latin typeface="Arial"/>
              </a:defRPr>
            </a:pPr>
            <a:r>
              <a:t>Thervo — Yuva Yodha Tech Challenge (Smart Buildings)                          Slide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  <a:latin typeface="Arial"/>
              </a:defRPr>
            </a:pPr>
            <a:r>
              <a:t>From workload signals to thermal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9AD"/>
                </a:solidFill>
                <a:latin typeface="Arial"/>
              </a:defRPr>
            </a:pPr>
            <a:r>
              <a:t>Data pipeline and algorithmic foundation driving pre-emptive cooling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118872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SYSTEM PIPELINE FLOW:</a:t>
            </a:r>
          </a:p>
          <a:p>
            <a:pPr>
              <a:spcBef>
                <a:spcPts val="600"/>
              </a:spcBef>
              <a:defRPr sz="1300" b="1">
                <a:solidFill>
                  <a:srgbClr val="F0F4F8"/>
                </a:solidFill>
              </a:defRPr>
            </a:pPr>
            <a:r>
              <a:t>Server Workload Telemetry ➔ Feature Processing ➔ 15-Feature Vector ➔ XGBoost Model + Graph Heat Propagation ➔ Composite Rack Risk ➔ Cooling Orchestration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212080" cy="274320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PRIMARY ENGINE COMPONENTS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</a:defRPr>
            </a:pPr>
            <a:r>
              <a:t>• Workload Heat Proxy: CPU and GPU utilization metrics act as heat proxies.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</a:defRPr>
            </a:pPr>
            <a:r>
              <a:t>• Graph Thermal Context: Neighboring rack influence modeled via graph propagation.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</a:defRPr>
            </a:pPr>
            <a:r>
              <a:t>• XGBoost Risk Engine: Fast, deterministic model yields primary risk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40"/>
            <a:ext cx="5212080" cy="274320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676"/>
                </a:solidFill>
              </a:defRPr>
            </a:pPr>
            <a:r>
              <a:t>MODEL SPECIFICATIONS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</a:defRPr>
            </a:pPr>
            <a:r>
              <a:t>• Composite Fusion: Fuses single-rack XGBoost signal with spatial graph context.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</a:defRPr>
            </a:pPr>
            <a:r>
              <a:t>• Normalized Bounding: Outputs strictly bounded within [0.0, 1.0] domain.</a:t>
            </a:r>
          </a:p>
          <a:p>
            <a:pPr>
              <a:spcBef>
                <a:spcPts val="800"/>
              </a:spcBef>
              <a:defRPr sz="1200">
                <a:solidFill>
                  <a:srgbClr val="F0F4F8"/>
                </a:solidFill>
              </a:defRPr>
            </a:pPr>
            <a:r>
              <a:t>• Zero Hardware Overhead: Lightweight inference runs on existing compute nodes.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9AD"/>
                </a:solidFill>
                <a:latin typeface="Arial"/>
              </a:defRPr>
            </a:pPr>
            <a:r>
              <a:t>Thervo — Yuva Yodha Tech Challenge (Smart Buildings)                          Slide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  <a:latin typeface="Arial"/>
              </a:defRPr>
            </a:pPr>
            <a:r>
              <a:t>What an operator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9AD"/>
                </a:solidFill>
                <a:latin typeface="Arial"/>
              </a:defRPr>
            </a:pPr>
            <a:r>
              <a:t>Mission control workflow for real-time facility visibility and pre-emptive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486400" cy="411480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0F4F8"/>
                </a:solidFill>
              </a:defRPr>
            </a:pPr>
            <a:r>
              <a:t>1. Operator opens Thervo Mission Control dashboard.</a:t>
            </a:r>
          </a:p>
          <a:p>
            <a:pPr>
              <a:spcAft>
                <a:spcPts val="600"/>
              </a:spcAft>
              <a:defRPr sz="1200">
                <a:solidFill>
                  <a:srgbClr val="F0F4F8"/>
                </a:solidFill>
              </a:defRPr>
            </a:pPr>
            <a:r>
              <a:t>2. Views real-time rack-level thermal risk heat grid.</a:t>
            </a:r>
          </a:p>
          <a:p>
            <a:pPr>
              <a:spcAft>
                <a:spcPts val="600"/>
              </a:spcAft>
              <a:defRPr sz="1200">
                <a:solidFill>
                  <a:srgbClr val="F0F4F8"/>
                </a:solidFill>
              </a:defRPr>
            </a:pPr>
            <a:r>
              <a:t>3. Identifies emerging high-risk racks prior to heat buildup.</a:t>
            </a:r>
          </a:p>
          <a:p>
            <a:pPr>
              <a:spcAft>
                <a:spcPts val="600"/>
              </a:spcAft>
              <a:defRPr sz="1200">
                <a:solidFill>
                  <a:srgbClr val="00E5FF"/>
                </a:solidFill>
              </a:defRPr>
            </a:pPr>
            <a:r>
              <a:t>4. Receives predictive alerts before critical thresholds.</a:t>
            </a:r>
          </a:p>
          <a:p>
            <a:pPr>
              <a:spcAft>
                <a:spcPts val="600"/>
              </a:spcAft>
              <a:defRPr sz="1200">
                <a:solidFill>
                  <a:srgbClr val="00E5FF"/>
                </a:solidFill>
              </a:defRPr>
            </a:pPr>
            <a:r>
              <a:t>5. Automated cooling triggers engage when risk thresholds breach.</a:t>
            </a:r>
          </a:p>
          <a:p>
            <a:pPr>
              <a:spcAft>
                <a:spcPts val="600"/>
              </a:spcAft>
              <a:defRPr sz="1200">
                <a:solidFill>
                  <a:srgbClr val="F0F4F8"/>
                </a:solidFill>
              </a:defRPr>
            </a:pPr>
            <a:r>
              <a:t>6. Operator retains real-time manual override control.</a:t>
            </a:r>
          </a:p>
          <a:p>
            <a:pPr>
              <a:spcAft>
                <a:spcPts val="600"/>
              </a:spcAft>
              <a:defRPr sz="1200">
                <a:solidFill>
                  <a:srgbClr val="F0F4F8"/>
                </a:solidFill>
              </a:defRPr>
            </a:pPr>
            <a:r>
              <a:t>7. Risk history and energy telemetry log long-term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4937760" cy="411480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MISSION CONTROL DASHBOARD MOCKUP</a:t>
            </a:r>
          </a:p>
          <a:p>
            <a:pPr>
              <a:spcBef>
                <a:spcPts val="800"/>
              </a:spcBef>
              <a:defRPr sz="1100">
                <a:solidFill>
                  <a:srgbClr val="F0F4F8"/>
                </a:solidFill>
              </a:defRPr>
            </a:pPr>
            <a:r>
              <a:t>Live Grid Status:</a:t>
            </a:r>
            <a:br/>
            <a:r>
              <a:t>• RACK-01: Risk 0.14 [NOMINAL]</a:t>
            </a:r>
            <a:br/>
            <a:r>
              <a:t>• RACK-02: Risk 0.42 [COOLING ACTIVE]</a:t>
            </a:r>
            <a:br/>
            <a:r>
              <a:t>• RACK-03: Risk 0.78 [WARNING]</a:t>
            </a:r>
            <a:br/>
            <a:r>
              <a:t>• RACK-04: Risk 0.91 [CRITICAL ALERT]</a:t>
            </a:r>
            <a:br/>
            <a:r>
              <a:t>• RACK-05: Risk 0.22 [NOMINAL]</a:t>
            </a:r>
            <a:br/>
            <a:r>
              <a:t>• RACK-06: Risk 0.18 [NOMINAL]</a:t>
            </a:r>
          </a:p>
          <a:p>
            <a:pPr>
              <a:spcBef>
                <a:spcPts val="1200"/>
              </a:spcBef>
              <a:defRPr sz="1100" b="1">
                <a:solidFill>
                  <a:srgbClr val="FF3D00"/>
                </a:solidFill>
              </a:defRPr>
            </a:pPr>
            <a:r>
              <a:t>PREDICTIVE ALERT: Rack-04 thermal risk spiking -&gt; TRIGGERING COOLING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9AD"/>
                </a:solidFill>
                <a:latin typeface="Arial"/>
              </a:defRPr>
            </a:pPr>
            <a:r>
              <a:t>Thervo — Yuva Yodha Tech Challenge (Smart Buildings)                          Slide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COMPETITIVE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  <a:latin typeface="Arial"/>
              </a:defRPr>
            </a:pPr>
            <a:r>
              <a:t>Predictive. Sensor-free. Rack-level.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9AD"/>
                </a:solidFill>
                <a:latin typeface="Arial"/>
              </a:defRPr>
            </a:pPr>
            <a:r>
              <a:t>Reinventing cooling strategy from reactive zones to workload-aware micro-zones.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69847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77639"/>
                <a:gridCol w="3977639"/>
              </a:tblGrid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8A99AD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8A99AD"/>
                          </a:solidFill>
                        </a:defRPr>
                      </a:pPr>
                      <a:r>
                        <a:t>Traditional Cooling Systems</a:t>
                      </a:r>
                    </a:p>
                  </a:txBody>
                  <a:tcPr>
                    <a:solidFill>
                      <a:srgbClr val="0E12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t>Thervo Thermal Intelligence</a:t>
                      </a:r>
                    </a:p>
                  </a:txBody>
                  <a:tcPr>
                    <a:solidFill>
                      <a:srgbClr val="0E121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4F8"/>
                          </a:solidFill>
                        </a:defRPr>
                      </a:pPr>
                      <a:r>
                        <a:t>Operational Mode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4F8"/>
                          </a:solidFill>
                        </a:defRPr>
                      </a:pPr>
                      <a:r>
                        <a:t>Reactive (Responds post-heat)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E5FF"/>
                          </a:solidFill>
                        </a:defRPr>
                      </a:pPr>
                      <a:r>
                        <a:t>Predictive (Acts pre-heat)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4F8"/>
                          </a:solidFill>
                        </a:defRPr>
                      </a:pPr>
                      <a:r>
                        <a:t>Cooling Granularity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4F8"/>
                          </a:solidFill>
                        </a:defRPr>
                      </a:pPr>
                      <a:r>
                        <a:t>Broad / Zone-Level Flooding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E5FF"/>
                          </a:solidFill>
                        </a:defRPr>
                      </a:pPr>
                      <a:r>
                        <a:t>Micro-Zone / Rack-Level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4F8"/>
                          </a:solidFill>
                        </a:defRPr>
                      </a:pPr>
                      <a:r>
                        <a:t>Hardware Dependency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4F8"/>
                          </a:solidFill>
                        </a:defRPr>
                      </a:pPr>
                      <a:r>
                        <a:t>Requires Physical Sensors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E5FF"/>
                          </a:solidFill>
                        </a:defRPr>
                      </a:pPr>
                      <a:r>
                        <a:t>Uses Existing Telemetry (Sensor-Free)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4F8"/>
                          </a:solidFill>
                        </a:defRPr>
                      </a:pPr>
                      <a:r>
                        <a:t>Decision Logic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4F8"/>
                          </a:solidFill>
                        </a:defRPr>
                      </a:pPr>
                      <a:r>
                        <a:t>Static Temperature Alarms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E5FF"/>
                          </a:solidFill>
                        </a:defRPr>
                      </a:pPr>
                      <a:r>
                        <a:t>AI-Driven Risk Scoring</a:t>
                      </a:r>
                    </a:p>
                  </a:txBody>
                  <a:tcPr>
                    <a:solidFill>
                      <a:srgbClr val="07090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389120"/>
            <a:ext cx="3383280" cy="164592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1. Sensor-Free Inference</a:t>
            </a:r>
          </a:p>
          <a:p>
            <a:pPr>
              <a:spcBef>
                <a:spcPts val="600"/>
              </a:spcBef>
              <a:defRPr sz="1100">
                <a:solidFill>
                  <a:srgbClr val="8A99AD"/>
                </a:solidFill>
              </a:defRPr>
            </a:pPr>
            <a:r>
              <a:t>Utilizes native OS server performance signals, eliminating hardware deployment &amp; maintenance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389120"/>
            <a:ext cx="3383280" cy="164592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4805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676"/>
                </a:solidFill>
              </a:defRPr>
            </a:pPr>
            <a:r>
              <a:t>2. Workload-Aware Foresight</a:t>
            </a:r>
          </a:p>
          <a:p>
            <a:pPr>
              <a:spcBef>
                <a:spcPts val="600"/>
              </a:spcBef>
              <a:defRPr sz="1100">
                <a:solidFill>
                  <a:srgbClr val="8A99AD"/>
                </a:solidFill>
              </a:defRPr>
            </a:pPr>
            <a:r>
              <a:t>Anticipates thermal generation directly from CPU/GPU compute spikes before heat builds 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389120"/>
            <a:ext cx="3383280" cy="164592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4805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100"/>
                </a:solidFill>
              </a:defRPr>
            </a:pPr>
            <a:r>
              <a:t>3. Graph Neighbor Model</a:t>
            </a:r>
          </a:p>
          <a:p>
            <a:pPr>
              <a:spcBef>
                <a:spcPts val="600"/>
              </a:spcBef>
              <a:defRPr sz="1100">
                <a:solidFill>
                  <a:srgbClr val="8A99AD"/>
                </a:solidFill>
              </a:defRPr>
            </a:pPr>
            <a:r>
              <a:t>Models thermal bleed and heat dissipation between adjacent server racks in the aisle.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9AD"/>
                </a:solidFill>
                <a:latin typeface="Arial"/>
              </a:defRPr>
            </a:pPr>
            <a:r>
              <a:t>Thervo — Yuva Yodha Tech Challenge (Smart Buildings)                          Slide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  <a:latin typeface="Arial"/>
              </a:defRPr>
            </a:pPr>
            <a:r>
              <a:t>Less wasted cooling. Earlier intervention. Smarter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9AD"/>
                </a:solidFill>
                <a:latin typeface="Arial"/>
              </a:defRPr>
            </a:pPr>
            <a:r>
              <a:t>Value creation across energy, operational cost, reliability, and sustainability.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292608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ENERGY</a:t>
            </a:r>
          </a:p>
          <a:p>
            <a:pPr>
              <a:spcBef>
                <a:spcPts val="400"/>
              </a:spcBef>
              <a:defRPr sz="1500" b="1">
                <a:solidFill>
                  <a:srgbClr val="F0F4F8"/>
                </a:solidFill>
              </a:defRPr>
            </a:pPr>
            <a:r>
              <a:t>Targeted Cooling</a:t>
            </a:r>
          </a:p>
          <a:p>
            <a:pPr>
              <a:spcBef>
                <a:spcPts val="800"/>
              </a:spcBef>
              <a:defRPr sz="1100">
                <a:solidFill>
                  <a:srgbClr val="8A99AD"/>
                </a:solidFill>
              </a:defRPr>
            </a:pPr>
            <a:r>
              <a:t>Cuts unnecessary cooling by delivering airflow strictly where heat is predicted to accumulate.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468880" cy="292608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5740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COST</a:t>
            </a:r>
          </a:p>
          <a:p>
            <a:pPr>
              <a:spcBef>
                <a:spcPts val="400"/>
              </a:spcBef>
              <a:defRPr sz="1500" b="1">
                <a:solidFill>
                  <a:srgbClr val="F0F4F8"/>
                </a:solidFill>
              </a:defRPr>
            </a:pPr>
            <a:r>
              <a:t>OpEx &amp; CapEx Efficiency</a:t>
            </a:r>
          </a:p>
          <a:p>
            <a:pPr>
              <a:spcBef>
                <a:spcPts val="800"/>
              </a:spcBef>
              <a:defRPr sz="1100">
                <a:solidFill>
                  <a:srgbClr val="8A99AD"/>
                </a:solidFill>
              </a:defRPr>
            </a:pPr>
            <a:r>
              <a:t>Lowers cooling electricity OpEx and avoids capital expense for physical sensor hardware.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2468880" cy="292608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5740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100"/>
                </a:solidFill>
              </a:defRPr>
            </a:pPr>
            <a:r>
              <a:t>RELIABILITY</a:t>
            </a:r>
          </a:p>
          <a:p>
            <a:pPr>
              <a:spcBef>
                <a:spcPts val="400"/>
              </a:spcBef>
              <a:defRPr sz="1500" b="1">
                <a:solidFill>
                  <a:srgbClr val="F0F4F8"/>
                </a:solidFill>
              </a:defRPr>
            </a:pPr>
            <a:r>
              <a:t>Early Hazard Mitigation</a:t>
            </a:r>
          </a:p>
          <a:p>
            <a:pPr>
              <a:spcBef>
                <a:spcPts val="800"/>
              </a:spcBef>
              <a:defRPr sz="1100">
                <a:solidFill>
                  <a:srgbClr val="8A99AD"/>
                </a:solidFill>
              </a:defRPr>
            </a:pPr>
            <a:r>
              <a:t>Identifies emerging thermal risks earlier, reducing hardware stress and thermal throttling.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20240"/>
            <a:ext cx="2468880" cy="292608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05740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SUSTAINABILITY</a:t>
            </a:r>
          </a:p>
          <a:p>
            <a:pPr>
              <a:spcBef>
                <a:spcPts val="400"/>
              </a:spcBef>
              <a:defRPr sz="1500" b="1">
                <a:solidFill>
                  <a:srgbClr val="F0F4F8"/>
                </a:solidFill>
              </a:defRPr>
            </a:pPr>
            <a:r>
              <a:t>Lower PUE Profile</a:t>
            </a:r>
          </a:p>
          <a:p>
            <a:pPr>
              <a:spcBef>
                <a:spcPts val="800"/>
              </a:spcBef>
              <a:defRPr sz="1100">
                <a:solidFill>
                  <a:srgbClr val="8A99AD"/>
                </a:solidFill>
              </a:defRPr>
            </a:pPr>
            <a:r>
              <a:t>Supports greener, lower PUE operations for energy-intensive AI digital infrastructure.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KEY BENEFICIARIES: Data-center operators | Infrastructure/SRE teams | Facilities managers | AI cloud providers</a:t>
            </a:r>
          </a:p>
          <a:p>
            <a:pPr>
              <a:spcBef>
                <a:spcPts val="400"/>
              </a:spcBef>
              <a:defRPr sz="1000">
                <a:solidFill>
                  <a:srgbClr val="8A99AD"/>
                </a:solidFill>
              </a:defRPr>
            </a:pPr>
            <a:r>
              <a:t>Note: Impact metrics represent targeted model goals and simulation benchmarks. Real-world savings vary by facility architecture.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9AD"/>
                </a:solidFill>
                <a:latin typeface="Arial"/>
              </a:defRPr>
            </a:pPr>
            <a:r>
              <a:t>Thervo — Yuva Yodha Tech Challenge (Smart Buildings)                          Slide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  <a:latin typeface="Arial"/>
              </a:defRPr>
            </a:pPr>
            <a:r>
              <a:t>From validated system to production-scale cooling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9AD"/>
                </a:solidFill>
                <a:latin typeface="Arial"/>
              </a:defRPr>
            </a:pPr>
            <a:r>
              <a:t>Clear distinction between completed validation and future deployment phases.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68580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676"/>
                </a:solidFill>
              </a:defRPr>
            </a:pPr>
            <a:r>
              <a:t>PHASE 0 • COMPLETED  |  Simulation &amp; Pipeline Validation  —  Interactive simulator, ML pipeline, synthetic &amp; hardware telemetry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698480" cy="68580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PHASE 1  |  Pilot Deployment  —  Live telemetry integration, single-floor deployment, baseline energy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698480" cy="68580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A99AD"/>
                </a:solidFill>
              </a:defRPr>
            </a:pPr>
            <a:r>
              <a:t>PHASE 2  |  Production Scale Expansion  —  Multi-floor deployment, DCIM integration, production API &amp; role-based access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68580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A99AD"/>
                </a:solidFill>
              </a:defRPr>
            </a:pPr>
            <a:r>
              <a:t>PHASE 3  |  Advanced Intelligence Layer  —  Temporal forecasting, anomaly detection, digital twin simulation capabilities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685800"/>
          </a:xfrm>
          <a:prstGeom prst="roundRect">
            <a:avLst/>
          </a:prstGeom>
          <a:solidFill>
            <a:srgbClr val="0E121B"/>
          </a:solidFill>
          <a:ln w="12700">
            <a:solidFill>
              <a:srgbClr val="1E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A99AD"/>
                </a:solidFill>
              </a:defRPr>
            </a:pPr>
            <a:r>
              <a:t>PHASE 4  |  Global Enterprise Platform  —  Multi-facility orchestration, enterprise SaaS offering, global partner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9AD"/>
                </a:solidFill>
                <a:latin typeface="Arial"/>
              </a:defRPr>
            </a:pPr>
            <a:r>
              <a:t>Thervo — Yuva Yodha Tech Challenge (Smart Buildings)                          Slide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TEAM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  <a:latin typeface="Arial"/>
              </a:defRPr>
            </a:pPr>
            <a:r>
              <a:t>Building a smarter way to cool the digital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9AD"/>
                </a:solidFill>
                <a:latin typeface="Arial"/>
              </a:defRPr>
            </a:pPr>
            <a:r>
              <a:t>Engineered for real-world data center sustainability.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237744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AI &amp; MACHINE LEARNING</a:t>
            </a:r>
          </a:p>
          <a:p>
            <a:pPr>
              <a:spcBef>
                <a:spcPts val="400"/>
              </a:spcBef>
              <a:defRPr sz="1600" b="1">
                <a:solidFill>
                  <a:srgbClr val="F0F4F8"/>
                </a:solidFill>
              </a:defRPr>
            </a:pPr>
            <a:r>
              <a:t>[ Team Member 1 ]</a:t>
            </a:r>
          </a:p>
          <a:p>
            <a:pPr>
              <a:spcBef>
                <a:spcPts val="800"/>
              </a:spcBef>
              <a:defRPr sz="1100">
                <a:solidFill>
                  <a:srgbClr val="8A99AD"/>
                </a:solidFill>
              </a:defRPr>
            </a:pPr>
            <a:r>
              <a:t>Lead AI Architect — Feature engineering, XGBoost predictive modeling, and spatial graph propagation algorithm.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237744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SYSTEMS &amp; TELEMETRY</a:t>
            </a:r>
          </a:p>
          <a:p>
            <a:pPr>
              <a:spcBef>
                <a:spcPts val="400"/>
              </a:spcBef>
              <a:defRPr sz="1600" b="1">
                <a:solidFill>
                  <a:srgbClr val="F0F4F8"/>
                </a:solidFill>
              </a:defRPr>
            </a:pPr>
            <a:r>
              <a:t>[ Team Member 2 ]</a:t>
            </a:r>
          </a:p>
          <a:p>
            <a:pPr>
              <a:spcBef>
                <a:spcPts val="800"/>
              </a:spcBef>
              <a:defRPr sz="1100">
                <a:solidFill>
                  <a:srgbClr val="8A99AD"/>
                </a:solidFill>
              </a:defRPr>
            </a:pPr>
            <a:r>
              <a:t>Systems Engineer — Real-time telemetry ingestion pipeline, OS hardware API bindings, and runtime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237744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100"/>
                </a:solidFill>
              </a:defRPr>
            </a:pPr>
            <a:r>
              <a:t>PRODUCT &amp; OPERATIONS</a:t>
            </a:r>
          </a:p>
          <a:p>
            <a:pPr>
              <a:spcBef>
                <a:spcPts val="400"/>
              </a:spcBef>
              <a:defRPr sz="1600" b="1">
                <a:solidFill>
                  <a:srgbClr val="F0F4F8"/>
                </a:solidFill>
              </a:defRPr>
            </a:pPr>
            <a:r>
              <a:t>[ Team Member 3 ]</a:t>
            </a:r>
          </a:p>
          <a:p>
            <a:pPr>
              <a:spcBef>
                <a:spcPts val="800"/>
              </a:spcBef>
              <a:defRPr sz="1100">
                <a:solidFill>
                  <a:srgbClr val="8A99AD"/>
                </a:solidFill>
              </a:defRPr>
            </a:pPr>
            <a:r>
              <a:t>Product Lead — Mission Control UX, DCIM integration strategy, and Yuva Yodha Challenge submission.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698480" cy="1554480"/>
          </a:xfrm>
          <a:prstGeom prst="roundRect">
            <a:avLst/>
          </a:prstGeom>
          <a:solidFill>
            <a:srgbClr val="0E121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4F8"/>
                </a:solidFill>
              </a:defRPr>
            </a:pPr>
            <a:r>
              <a:t>"Every computation creates heat. We believe cooling should be intelligent enough to know where that heat is going next."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00E5FF"/>
                </a:solidFill>
              </a:defRPr>
            </a:pPr>
            <a:r>
              <a:t>Thervo — "Predict before you cool."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9AD"/>
                </a:solidFill>
                <a:latin typeface="Arial"/>
              </a:defRPr>
            </a:pPr>
            <a:r>
              <a:t>Thervo — Yuva Yodha Tech Challenge (Smart Buildings)                          Slide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